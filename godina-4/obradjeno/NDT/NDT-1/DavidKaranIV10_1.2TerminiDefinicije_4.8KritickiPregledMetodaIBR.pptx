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58" r:id="rId5"/>
    <p:sldId id="273" r:id="rId6"/>
    <p:sldId id="259" r:id="rId7"/>
    <p:sldId id="265" r:id="rId8"/>
    <p:sldId id="274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75" r:id="rId17"/>
    <p:sldId id="260" r:id="rId18"/>
    <p:sldId id="268" r:id="rId19"/>
    <p:sldId id="269" r:id="rId20"/>
    <p:sldId id="270" r:id="rId21"/>
    <p:sldId id="271" r:id="rId22"/>
    <p:sldId id="26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4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DE14C3-CB89-4279-8BED-7CCE604636B4}" type="doc">
      <dgm:prSet loTypeId="urn:microsoft.com/office/officeart/2005/8/layout/default" loCatId="list" qsTypeId="urn:microsoft.com/office/officeart/2005/8/quickstyle/simple4#13" qsCatId="simple" csTypeId="urn:microsoft.com/office/officeart/2005/8/colors/colorful1#14" csCatId="colorful"/>
      <dgm:spPr/>
      <dgm:t>
        <a:bodyPr/>
        <a:lstStyle/>
        <a:p>
          <a:endParaRPr lang="en-US"/>
        </a:p>
      </dgm:t>
    </dgm:pt>
    <dgm:pt modelId="{37D90027-D20E-4D1A-84F9-A3EE27E16D72}">
      <dgm:prSet/>
      <dgm:spPr/>
      <dgm:t>
        <a:bodyPr/>
        <a:lstStyle/>
        <a:p>
          <a:r>
            <a:rPr lang="sr-Cyrl-RS"/>
            <a:t>Оптичка</a:t>
          </a:r>
          <a:endParaRPr lang="en-US"/>
        </a:p>
      </dgm:t>
    </dgm:pt>
    <dgm:pt modelId="{F61C3DF4-86C7-4C86-A92A-0457176DBC67}" type="parTrans" cxnId="{E8EC693A-E529-46B0-AE65-65C3AD382323}">
      <dgm:prSet/>
      <dgm:spPr/>
      <dgm:t>
        <a:bodyPr/>
        <a:lstStyle/>
        <a:p>
          <a:endParaRPr lang="en-US"/>
        </a:p>
      </dgm:t>
    </dgm:pt>
    <dgm:pt modelId="{7AE9AACF-6653-451C-AAB4-3C7C819A9031}" type="sibTrans" cxnId="{E8EC693A-E529-46B0-AE65-65C3AD382323}">
      <dgm:prSet/>
      <dgm:spPr/>
      <dgm:t>
        <a:bodyPr/>
        <a:lstStyle/>
        <a:p>
          <a:endParaRPr lang="en-US"/>
        </a:p>
      </dgm:t>
    </dgm:pt>
    <dgm:pt modelId="{167D917B-6EFF-4BD9-B1B1-639A2452E90C}">
      <dgm:prSet/>
      <dgm:spPr/>
      <dgm:t>
        <a:bodyPr/>
        <a:lstStyle/>
        <a:p>
          <a:r>
            <a:rPr lang="sr-Cyrl-RS"/>
            <a:t>Радиографска</a:t>
          </a:r>
          <a:endParaRPr lang="en-US"/>
        </a:p>
      </dgm:t>
    </dgm:pt>
    <dgm:pt modelId="{EA11FD9A-5545-4519-8302-584E7D096F82}" type="parTrans" cxnId="{4A55ADF9-0F1E-4E79-AE9B-0916A570AE3D}">
      <dgm:prSet/>
      <dgm:spPr/>
      <dgm:t>
        <a:bodyPr/>
        <a:lstStyle/>
        <a:p>
          <a:endParaRPr lang="en-US"/>
        </a:p>
      </dgm:t>
    </dgm:pt>
    <dgm:pt modelId="{1586559D-214E-418E-9A2D-D76BDB52EEB9}" type="sibTrans" cxnId="{4A55ADF9-0F1E-4E79-AE9B-0916A570AE3D}">
      <dgm:prSet/>
      <dgm:spPr/>
      <dgm:t>
        <a:bodyPr/>
        <a:lstStyle/>
        <a:p>
          <a:endParaRPr lang="en-US"/>
        </a:p>
      </dgm:t>
    </dgm:pt>
    <dgm:pt modelId="{3DD5211A-3943-4EBD-996E-30E7074679E6}">
      <dgm:prSet/>
      <dgm:spPr/>
      <dgm:t>
        <a:bodyPr/>
        <a:lstStyle/>
        <a:p>
          <a:r>
            <a:rPr lang="sr-Cyrl-RS"/>
            <a:t>Магнетна</a:t>
          </a:r>
          <a:endParaRPr lang="en-US"/>
        </a:p>
      </dgm:t>
    </dgm:pt>
    <dgm:pt modelId="{6BF12A42-491D-428F-A497-FE690BD1BE3D}" type="parTrans" cxnId="{BB5250BE-C5C2-457C-B32C-2DCAEAA6E8B4}">
      <dgm:prSet/>
      <dgm:spPr/>
      <dgm:t>
        <a:bodyPr/>
        <a:lstStyle/>
        <a:p>
          <a:endParaRPr lang="en-US"/>
        </a:p>
      </dgm:t>
    </dgm:pt>
    <dgm:pt modelId="{69EBDAC9-A6C3-4EC5-8A0A-B6502EC8CB59}" type="sibTrans" cxnId="{BB5250BE-C5C2-457C-B32C-2DCAEAA6E8B4}">
      <dgm:prSet/>
      <dgm:spPr/>
      <dgm:t>
        <a:bodyPr/>
        <a:lstStyle/>
        <a:p>
          <a:endParaRPr lang="en-US"/>
        </a:p>
      </dgm:t>
    </dgm:pt>
    <dgm:pt modelId="{09404852-150F-41B7-8A17-815853BDA9C7}">
      <dgm:prSet/>
      <dgm:spPr/>
      <dgm:t>
        <a:bodyPr/>
        <a:lstStyle/>
        <a:p>
          <a:r>
            <a:rPr lang="sr-Cyrl-RS"/>
            <a:t>Пенетранти</a:t>
          </a:r>
          <a:endParaRPr lang="en-US"/>
        </a:p>
      </dgm:t>
    </dgm:pt>
    <dgm:pt modelId="{E84E44D8-1B72-4294-AF14-F2A3716ED18A}" type="parTrans" cxnId="{9FEE41A5-7E45-4695-AC3A-216FD8E40072}">
      <dgm:prSet/>
      <dgm:spPr/>
      <dgm:t>
        <a:bodyPr/>
        <a:lstStyle/>
        <a:p>
          <a:endParaRPr lang="en-US"/>
        </a:p>
      </dgm:t>
    </dgm:pt>
    <dgm:pt modelId="{33B02621-BEFD-4E69-95C9-3C9286C076B1}" type="sibTrans" cxnId="{9FEE41A5-7E45-4695-AC3A-216FD8E40072}">
      <dgm:prSet/>
      <dgm:spPr/>
      <dgm:t>
        <a:bodyPr/>
        <a:lstStyle/>
        <a:p>
          <a:endParaRPr lang="en-US"/>
        </a:p>
      </dgm:t>
    </dgm:pt>
    <dgm:pt modelId="{2D737407-656C-4055-8D25-C63D6F73D845}">
      <dgm:prSet/>
      <dgm:spPr/>
      <dgm:t>
        <a:bodyPr/>
        <a:lstStyle/>
        <a:p>
          <a:r>
            <a:rPr lang="sr-Cyrl-RS"/>
            <a:t>Вртложне струје</a:t>
          </a:r>
          <a:endParaRPr lang="en-US"/>
        </a:p>
      </dgm:t>
    </dgm:pt>
    <dgm:pt modelId="{706FF560-6508-4459-A6F5-9181E2F764EF}" type="parTrans" cxnId="{21C233A4-BE66-49C6-8211-B7BD1A991F91}">
      <dgm:prSet/>
      <dgm:spPr/>
      <dgm:t>
        <a:bodyPr/>
        <a:lstStyle/>
        <a:p>
          <a:endParaRPr lang="en-US"/>
        </a:p>
      </dgm:t>
    </dgm:pt>
    <dgm:pt modelId="{5A19FD4C-55E8-4413-920A-BD641AEB833B}" type="sibTrans" cxnId="{21C233A4-BE66-49C6-8211-B7BD1A991F91}">
      <dgm:prSet/>
      <dgm:spPr/>
      <dgm:t>
        <a:bodyPr/>
        <a:lstStyle/>
        <a:p>
          <a:endParaRPr lang="en-US"/>
        </a:p>
      </dgm:t>
    </dgm:pt>
    <dgm:pt modelId="{4D42A3C4-0B54-45DD-8B93-F180F2F8B971}">
      <dgm:prSet/>
      <dgm:spPr/>
      <dgm:t>
        <a:bodyPr/>
        <a:lstStyle/>
        <a:p>
          <a:r>
            <a:rPr lang="sr-Cyrl-RS"/>
            <a:t>Акустична</a:t>
          </a:r>
          <a:endParaRPr lang="en-US"/>
        </a:p>
      </dgm:t>
    </dgm:pt>
    <dgm:pt modelId="{3861685B-34B0-47E7-8CEA-BDCA6A6BC07F}" type="parTrans" cxnId="{C7391BF6-4FAF-4C06-A75F-3714FD5201E1}">
      <dgm:prSet/>
      <dgm:spPr/>
      <dgm:t>
        <a:bodyPr/>
        <a:lstStyle/>
        <a:p>
          <a:endParaRPr lang="en-US"/>
        </a:p>
      </dgm:t>
    </dgm:pt>
    <dgm:pt modelId="{04B70670-38B9-4DEE-81BD-19D1903A0984}" type="sibTrans" cxnId="{C7391BF6-4FAF-4C06-A75F-3714FD5201E1}">
      <dgm:prSet/>
      <dgm:spPr/>
      <dgm:t>
        <a:bodyPr/>
        <a:lstStyle/>
        <a:p>
          <a:endParaRPr lang="en-US"/>
        </a:p>
      </dgm:t>
    </dgm:pt>
    <dgm:pt modelId="{09E1312B-BA5D-4992-B2D4-0FD51F8C741E}" type="pres">
      <dgm:prSet presAssocID="{F6DE14C3-CB89-4279-8BED-7CCE604636B4}" presName="diagram" presStyleCnt="0">
        <dgm:presLayoutVars>
          <dgm:dir/>
          <dgm:resizeHandles val="exact"/>
        </dgm:presLayoutVars>
      </dgm:prSet>
      <dgm:spPr/>
    </dgm:pt>
    <dgm:pt modelId="{EBD15B28-AE45-43D9-B818-5D791A6A26F3}" type="pres">
      <dgm:prSet presAssocID="{37D90027-D20E-4D1A-84F9-A3EE27E16D72}" presName="node" presStyleLbl="node1" presStyleIdx="0" presStyleCnt="6">
        <dgm:presLayoutVars>
          <dgm:bulletEnabled val="1"/>
        </dgm:presLayoutVars>
      </dgm:prSet>
      <dgm:spPr/>
    </dgm:pt>
    <dgm:pt modelId="{6C029188-3010-4A4B-97A8-33350021E8EC}" type="pres">
      <dgm:prSet presAssocID="{7AE9AACF-6653-451C-AAB4-3C7C819A9031}" presName="sibTrans" presStyleCnt="0"/>
      <dgm:spPr/>
    </dgm:pt>
    <dgm:pt modelId="{1423822B-A389-4C63-A654-45205763A43E}" type="pres">
      <dgm:prSet presAssocID="{167D917B-6EFF-4BD9-B1B1-639A2452E90C}" presName="node" presStyleLbl="node1" presStyleIdx="1" presStyleCnt="6">
        <dgm:presLayoutVars>
          <dgm:bulletEnabled val="1"/>
        </dgm:presLayoutVars>
      </dgm:prSet>
      <dgm:spPr/>
    </dgm:pt>
    <dgm:pt modelId="{6ACD0803-1460-4DF5-B9F0-C0D0280F0D05}" type="pres">
      <dgm:prSet presAssocID="{1586559D-214E-418E-9A2D-D76BDB52EEB9}" presName="sibTrans" presStyleCnt="0"/>
      <dgm:spPr/>
    </dgm:pt>
    <dgm:pt modelId="{E7C59CF3-F044-40CB-B209-8E43F48B468B}" type="pres">
      <dgm:prSet presAssocID="{3DD5211A-3943-4EBD-996E-30E7074679E6}" presName="node" presStyleLbl="node1" presStyleIdx="2" presStyleCnt="6">
        <dgm:presLayoutVars>
          <dgm:bulletEnabled val="1"/>
        </dgm:presLayoutVars>
      </dgm:prSet>
      <dgm:spPr/>
    </dgm:pt>
    <dgm:pt modelId="{5A43ADA8-010F-45EE-902C-2C0CAA58CCCF}" type="pres">
      <dgm:prSet presAssocID="{69EBDAC9-A6C3-4EC5-8A0A-B6502EC8CB59}" presName="sibTrans" presStyleCnt="0"/>
      <dgm:spPr/>
    </dgm:pt>
    <dgm:pt modelId="{FA7C1B9D-D946-442F-A63E-5495C835ADA5}" type="pres">
      <dgm:prSet presAssocID="{09404852-150F-41B7-8A17-815853BDA9C7}" presName="node" presStyleLbl="node1" presStyleIdx="3" presStyleCnt="6">
        <dgm:presLayoutVars>
          <dgm:bulletEnabled val="1"/>
        </dgm:presLayoutVars>
      </dgm:prSet>
      <dgm:spPr/>
    </dgm:pt>
    <dgm:pt modelId="{0748C4C7-6DEE-48ED-9D51-9D42CD1016E8}" type="pres">
      <dgm:prSet presAssocID="{33B02621-BEFD-4E69-95C9-3C9286C076B1}" presName="sibTrans" presStyleCnt="0"/>
      <dgm:spPr/>
    </dgm:pt>
    <dgm:pt modelId="{7B170BA4-ECDF-444C-8D33-D20BDA901F35}" type="pres">
      <dgm:prSet presAssocID="{2D737407-656C-4055-8D25-C63D6F73D845}" presName="node" presStyleLbl="node1" presStyleIdx="4" presStyleCnt="6">
        <dgm:presLayoutVars>
          <dgm:bulletEnabled val="1"/>
        </dgm:presLayoutVars>
      </dgm:prSet>
      <dgm:spPr/>
    </dgm:pt>
    <dgm:pt modelId="{510A8C05-55CE-4BD1-AE8D-368FF09D5CFA}" type="pres">
      <dgm:prSet presAssocID="{5A19FD4C-55E8-4413-920A-BD641AEB833B}" presName="sibTrans" presStyleCnt="0"/>
      <dgm:spPr/>
    </dgm:pt>
    <dgm:pt modelId="{55D85595-79A3-45FF-B18B-916C83988E2D}" type="pres">
      <dgm:prSet presAssocID="{4D42A3C4-0B54-45DD-8B93-F180F2F8B971}" presName="node" presStyleLbl="node1" presStyleIdx="5" presStyleCnt="6">
        <dgm:presLayoutVars>
          <dgm:bulletEnabled val="1"/>
        </dgm:presLayoutVars>
      </dgm:prSet>
      <dgm:spPr/>
    </dgm:pt>
  </dgm:ptLst>
  <dgm:cxnLst>
    <dgm:cxn modelId="{E8EC693A-E529-46B0-AE65-65C3AD382323}" srcId="{F6DE14C3-CB89-4279-8BED-7CCE604636B4}" destId="{37D90027-D20E-4D1A-84F9-A3EE27E16D72}" srcOrd="0" destOrd="0" parTransId="{F61C3DF4-86C7-4C86-A92A-0457176DBC67}" sibTransId="{7AE9AACF-6653-451C-AAB4-3C7C819A9031}"/>
    <dgm:cxn modelId="{DE291956-EA5B-48F5-83A5-9D1BDCE0775B}" type="presOf" srcId="{09404852-150F-41B7-8A17-815853BDA9C7}" destId="{FA7C1B9D-D946-442F-A63E-5495C835ADA5}" srcOrd="0" destOrd="0" presId="urn:microsoft.com/office/officeart/2005/8/layout/default"/>
    <dgm:cxn modelId="{69D81984-EB2D-46AA-AC3D-080A1E1C2D73}" type="presOf" srcId="{2D737407-656C-4055-8D25-C63D6F73D845}" destId="{7B170BA4-ECDF-444C-8D33-D20BDA901F35}" srcOrd="0" destOrd="0" presId="urn:microsoft.com/office/officeart/2005/8/layout/default"/>
    <dgm:cxn modelId="{E24E9485-81F6-4183-A445-C7EC9E194480}" type="presOf" srcId="{4D42A3C4-0B54-45DD-8B93-F180F2F8B971}" destId="{55D85595-79A3-45FF-B18B-916C83988E2D}" srcOrd="0" destOrd="0" presId="urn:microsoft.com/office/officeart/2005/8/layout/default"/>
    <dgm:cxn modelId="{85F4939E-B67D-476B-97FF-74D1252018FC}" type="presOf" srcId="{37D90027-D20E-4D1A-84F9-A3EE27E16D72}" destId="{EBD15B28-AE45-43D9-B818-5D791A6A26F3}" srcOrd="0" destOrd="0" presId="urn:microsoft.com/office/officeart/2005/8/layout/default"/>
    <dgm:cxn modelId="{0E139DA2-0295-4D5E-92E4-CBF76F79E4D3}" type="presOf" srcId="{F6DE14C3-CB89-4279-8BED-7CCE604636B4}" destId="{09E1312B-BA5D-4992-B2D4-0FD51F8C741E}" srcOrd="0" destOrd="0" presId="urn:microsoft.com/office/officeart/2005/8/layout/default"/>
    <dgm:cxn modelId="{21C233A4-BE66-49C6-8211-B7BD1A991F91}" srcId="{F6DE14C3-CB89-4279-8BED-7CCE604636B4}" destId="{2D737407-656C-4055-8D25-C63D6F73D845}" srcOrd="4" destOrd="0" parTransId="{706FF560-6508-4459-A6F5-9181E2F764EF}" sibTransId="{5A19FD4C-55E8-4413-920A-BD641AEB833B}"/>
    <dgm:cxn modelId="{9FEE41A5-7E45-4695-AC3A-216FD8E40072}" srcId="{F6DE14C3-CB89-4279-8BED-7CCE604636B4}" destId="{09404852-150F-41B7-8A17-815853BDA9C7}" srcOrd="3" destOrd="0" parTransId="{E84E44D8-1B72-4294-AF14-F2A3716ED18A}" sibTransId="{33B02621-BEFD-4E69-95C9-3C9286C076B1}"/>
    <dgm:cxn modelId="{BB5250BE-C5C2-457C-B32C-2DCAEAA6E8B4}" srcId="{F6DE14C3-CB89-4279-8BED-7CCE604636B4}" destId="{3DD5211A-3943-4EBD-996E-30E7074679E6}" srcOrd="2" destOrd="0" parTransId="{6BF12A42-491D-428F-A497-FE690BD1BE3D}" sibTransId="{69EBDAC9-A6C3-4EC5-8A0A-B6502EC8CB59}"/>
    <dgm:cxn modelId="{E71416E7-E038-4BF0-96EA-41CF88B87D8A}" type="presOf" srcId="{3DD5211A-3943-4EBD-996E-30E7074679E6}" destId="{E7C59CF3-F044-40CB-B209-8E43F48B468B}" srcOrd="0" destOrd="0" presId="urn:microsoft.com/office/officeart/2005/8/layout/default"/>
    <dgm:cxn modelId="{3F1D56E9-CCC3-44D7-A461-C8D534AECAEF}" type="presOf" srcId="{167D917B-6EFF-4BD9-B1B1-639A2452E90C}" destId="{1423822B-A389-4C63-A654-45205763A43E}" srcOrd="0" destOrd="0" presId="urn:microsoft.com/office/officeart/2005/8/layout/default"/>
    <dgm:cxn modelId="{C7391BF6-4FAF-4C06-A75F-3714FD5201E1}" srcId="{F6DE14C3-CB89-4279-8BED-7CCE604636B4}" destId="{4D42A3C4-0B54-45DD-8B93-F180F2F8B971}" srcOrd="5" destOrd="0" parTransId="{3861685B-34B0-47E7-8CEA-BDCA6A6BC07F}" sibTransId="{04B70670-38B9-4DEE-81BD-19D1903A0984}"/>
    <dgm:cxn modelId="{4A55ADF9-0F1E-4E79-AE9B-0916A570AE3D}" srcId="{F6DE14C3-CB89-4279-8BED-7CCE604636B4}" destId="{167D917B-6EFF-4BD9-B1B1-639A2452E90C}" srcOrd="1" destOrd="0" parTransId="{EA11FD9A-5545-4519-8302-584E7D096F82}" sibTransId="{1586559D-214E-418E-9A2D-D76BDB52EEB9}"/>
    <dgm:cxn modelId="{4F671E28-E62D-40FF-A13D-E20846700ABC}" type="presParOf" srcId="{09E1312B-BA5D-4992-B2D4-0FD51F8C741E}" destId="{EBD15B28-AE45-43D9-B818-5D791A6A26F3}" srcOrd="0" destOrd="0" presId="urn:microsoft.com/office/officeart/2005/8/layout/default"/>
    <dgm:cxn modelId="{734B3075-F4C7-49C1-B0AD-FD3AFBCBBD8D}" type="presParOf" srcId="{09E1312B-BA5D-4992-B2D4-0FD51F8C741E}" destId="{6C029188-3010-4A4B-97A8-33350021E8EC}" srcOrd="1" destOrd="0" presId="urn:microsoft.com/office/officeart/2005/8/layout/default"/>
    <dgm:cxn modelId="{C387C152-7D6D-4FF4-8AE6-6B4B1F7A63A2}" type="presParOf" srcId="{09E1312B-BA5D-4992-B2D4-0FD51F8C741E}" destId="{1423822B-A389-4C63-A654-45205763A43E}" srcOrd="2" destOrd="0" presId="urn:microsoft.com/office/officeart/2005/8/layout/default"/>
    <dgm:cxn modelId="{66956EED-575C-448D-9A4F-A1DBE0CA1054}" type="presParOf" srcId="{09E1312B-BA5D-4992-B2D4-0FD51F8C741E}" destId="{6ACD0803-1460-4DF5-B9F0-C0D0280F0D05}" srcOrd="3" destOrd="0" presId="urn:microsoft.com/office/officeart/2005/8/layout/default"/>
    <dgm:cxn modelId="{41CBF848-A7B2-4F69-80BE-2B06F6C3ACE8}" type="presParOf" srcId="{09E1312B-BA5D-4992-B2D4-0FD51F8C741E}" destId="{E7C59CF3-F044-40CB-B209-8E43F48B468B}" srcOrd="4" destOrd="0" presId="urn:microsoft.com/office/officeart/2005/8/layout/default"/>
    <dgm:cxn modelId="{1D1564DA-F790-40F3-9A65-D47B9276E230}" type="presParOf" srcId="{09E1312B-BA5D-4992-B2D4-0FD51F8C741E}" destId="{5A43ADA8-010F-45EE-902C-2C0CAA58CCCF}" srcOrd="5" destOrd="0" presId="urn:microsoft.com/office/officeart/2005/8/layout/default"/>
    <dgm:cxn modelId="{FC2FCBDE-58BE-47F3-97D2-B5E69551EC10}" type="presParOf" srcId="{09E1312B-BA5D-4992-B2D4-0FD51F8C741E}" destId="{FA7C1B9D-D946-442F-A63E-5495C835ADA5}" srcOrd="6" destOrd="0" presId="urn:microsoft.com/office/officeart/2005/8/layout/default"/>
    <dgm:cxn modelId="{B6FD9EAE-7140-4F8D-A2FF-65AD06CE1611}" type="presParOf" srcId="{09E1312B-BA5D-4992-B2D4-0FD51F8C741E}" destId="{0748C4C7-6DEE-48ED-9D51-9D42CD1016E8}" srcOrd="7" destOrd="0" presId="urn:microsoft.com/office/officeart/2005/8/layout/default"/>
    <dgm:cxn modelId="{07D8A7F9-7F41-4379-9B86-10345916A70E}" type="presParOf" srcId="{09E1312B-BA5D-4992-B2D4-0FD51F8C741E}" destId="{7B170BA4-ECDF-444C-8D33-D20BDA901F35}" srcOrd="8" destOrd="0" presId="urn:microsoft.com/office/officeart/2005/8/layout/default"/>
    <dgm:cxn modelId="{D27EF524-A3DE-4F2A-9208-2710B74F6663}" type="presParOf" srcId="{09E1312B-BA5D-4992-B2D4-0FD51F8C741E}" destId="{510A8C05-55CE-4BD1-AE8D-368FF09D5CFA}" srcOrd="9" destOrd="0" presId="urn:microsoft.com/office/officeart/2005/8/layout/default"/>
    <dgm:cxn modelId="{1D706971-DB1B-48E5-B1EC-D03BB7A8FA19}" type="presParOf" srcId="{09E1312B-BA5D-4992-B2D4-0FD51F8C741E}" destId="{55D85595-79A3-45FF-B18B-916C83988E2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D15B28-AE45-43D9-B818-5D791A6A26F3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Cyrl-RS" sz="3600" kern="1200"/>
            <a:t>Оптичка</a:t>
          </a:r>
          <a:endParaRPr lang="en-US" sz="3600" kern="1200"/>
        </a:p>
      </dsp:txBody>
      <dsp:txXfrm>
        <a:off x="0" y="39687"/>
        <a:ext cx="3286125" cy="1971675"/>
      </dsp:txXfrm>
    </dsp:sp>
    <dsp:sp modelId="{1423822B-A389-4C63-A654-45205763A43E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Cyrl-RS" sz="3600" kern="1200"/>
            <a:t>Радиографска</a:t>
          </a:r>
          <a:endParaRPr lang="en-US" sz="3600" kern="1200"/>
        </a:p>
      </dsp:txBody>
      <dsp:txXfrm>
        <a:off x="3614737" y="39687"/>
        <a:ext cx="3286125" cy="1971675"/>
      </dsp:txXfrm>
    </dsp:sp>
    <dsp:sp modelId="{E7C59CF3-F044-40CB-B209-8E43F48B468B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Cyrl-RS" sz="3600" kern="1200"/>
            <a:t>Магнетна</a:t>
          </a:r>
          <a:endParaRPr lang="en-US" sz="3600" kern="1200"/>
        </a:p>
      </dsp:txBody>
      <dsp:txXfrm>
        <a:off x="7229475" y="39687"/>
        <a:ext cx="3286125" cy="1971675"/>
      </dsp:txXfrm>
    </dsp:sp>
    <dsp:sp modelId="{FA7C1B9D-D946-442F-A63E-5495C835ADA5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Cyrl-RS" sz="3600" kern="1200"/>
            <a:t>Пенетранти</a:t>
          </a:r>
          <a:endParaRPr lang="en-US" sz="3600" kern="1200"/>
        </a:p>
      </dsp:txBody>
      <dsp:txXfrm>
        <a:off x="0" y="2339975"/>
        <a:ext cx="3286125" cy="1971675"/>
      </dsp:txXfrm>
    </dsp:sp>
    <dsp:sp modelId="{7B170BA4-ECDF-444C-8D33-D20BDA901F35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Cyrl-RS" sz="3600" kern="1200"/>
            <a:t>Вртложне струје</a:t>
          </a:r>
          <a:endParaRPr lang="en-US" sz="3600" kern="1200"/>
        </a:p>
      </dsp:txBody>
      <dsp:txXfrm>
        <a:off x="3614737" y="2339975"/>
        <a:ext cx="3286125" cy="1971675"/>
      </dsp:txXfrm>
    </dsp:sp>
    <dsp:sp modelId="{55D85595-79A3-45FF-B18B-916C83988E2D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r-Cyrl-RS" sz="3600" kern="1200"/>
            <a:t>Акустична</a:t>
          </a:r>
          <a:endParaRPr lang="en-US" sz="3600" kern="1200"/>
        </a:p>
      </dsp:txBody>
      <dsp:txXfrm>
        <a:off x="7229475" y="2339975"/>
        <a:ext cx="3286125" cy="1971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3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E04C-6E22-D54F-835E-AD1D7E8CC1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8BAC52-9643-64FB-C3FF-270AE1D69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66A5E-E9E7-22C4-418E-A9939554A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18B-BFEC-4621-B5E4-08F56D92A02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63692-1FC0-2502-65F2-A8A33C0D4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0790C-090A-4FF5-2800-A6722A4F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50FC0-42EB-41BA-B2E6-7B0F181EF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464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16466-632D-CF88-4F61-303F5AA7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A5252-E7AA-9950-86BB-58E171B4E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385A8-897C-258C-2251-5B31A582B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18B-BFEC-4621-B5E4-08F56D92A02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2E1EB-7655-C6D1-C870-EB4FD393D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21BC3-21FD-DF61-280C-2ED41985D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50FC0-42EB-41BA-B2E6-7B0F181EF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55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26488-66FE-B2B1-2E72-87F7211D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811FF-0A98-9103-6EC0-F6E803C06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0B19C-E151-53F3-5DBB-8F8BF4F6D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18B-BFEC-4621-B5E4-08F56D92A02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0FF91-3E5C-0B1E-25AA-92C05BC02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73075-FC73-D870-4E82-C30F85D3D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50FC0-42EB-41BA-B2E6-7B0F181EF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57FB-B776-C61B-8B4F-1DB314999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8DA55-8394-5B47-684B-3ED44C650E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A1614-12E8-AA28-4D82-927C74D77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D3D62-4CB0-F70D-28A6-C698DAD30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18B-BFEC-4621-B5E4-08F56D92A02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3AF5C6-6761-2751-B22F-1604E5FBD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6DD59-5DA1-B54B-174D-1AA898B16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50FC0-42EB-41BA-B2E6-7B0F181EF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92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C547-0E4C-F22A-9F98-5734D60E2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0420E-A0E5-A4CB-E609-D1C549DA8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D0ED1-9F8C-E88B-957C-E4503BFAF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03BF0-39BC-C971-1C21-B1D9F343F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553712-5E32-F527-6CE2-87EF11A1E0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DA815A-C95A-DAC9-9325-2E62C6FAF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18B-BFEC-4621-B5E4-08F56D92A02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4DEA2-A91A-C746-7D89-20E01CC6E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DB6ED2-A2CC-0742-9A85-A2CFCE262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50FC0-42EB-41BA-B2E6-7B0F181EF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777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A2A88-8DBA-8A14-17AB-58CBF393D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6C4BD8-8A77-EE0B-BD37-69F147386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18B-BFEC-4621-B5E4-08F56D92A02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5BBCA5-CEDB-719C-7314-F9AAB6C00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89EB5-C679-DA72-E542-10C09FE69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50FC0-42EB-41BA-B2E6-7B0F181EF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664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E6B191-F7EF-61A0-2D77-185C1C49D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18B-BFEC-4621-B5E4-08F56D92A02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93FED5-96F6-2808-B4EA-166659CB9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F81E0-1E72-A19D-6C19-8A9605EE8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50FC0-42EB-41BA-B2E6-7B0F181EF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612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0A5B3-EF08-086D-9D88-04ACFA625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3BFBB-040B-7377-6B91-F5474C658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478E7E-C595-4F79-5E10-D57E11437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F88CA8-8F54-2ACD-2053-BD54FF5D1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18B-BFEC-4621-B5E4-08F56D92A02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F3362-DA5B-6C80-AE28-0E6208A71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70645-E619-EAD1-1193-0D22A34A5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50FC0-42EB-41BA-B2E6-7B0F181EF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130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1EA0B-30B1-B05D-3B10-3B0E43D12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1C14F7-79F8-9433-9AFA-07CAE1B33C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BBC532-DCDD-8CD2-70C6-A71F4DA38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4394D-89CA-75E1-2CD1-7D82326F3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18B-BFEC-4621-B5E4-08F56D92A02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06FD1-049C-B0B2-3B63-6A02AF707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EAB12-B2A3-AABB-F071-C15D51362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50FC0-42EB-41BA-B2E6-7B0F181EF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46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F3232-4B36-4B2A-7A00-7732B26A0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5B55C-4A8A-8515-3AC3-36933438C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15549-952C-D7E0-747C-EC1D36E4A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18B-BFEC-4621-B5E4-08F56D92A02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776E4-17CC-0A67-8EEE-08062B2EC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615A6-7504-9715-C5F3-50D1AD1DE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50FC0-42EB-41BA-B2E6-7B0F181EF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768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FABAC7-6BA3-BFEE-DAE0-380C4561FE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EA7AD6-758C-0ED8-BFB8-698B5E392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0D948-DE80-3715-70FD-043637D21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18B-BFEC-4621-B5E4-08F56D92A02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7D220-82EC-53FD-B163-A643768F0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942BE-3FF4-83DF-E2FC-56311FD8D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50FC0-42EB-41BA-B2E6-7B0F181EF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99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F8882D-5B45-54A2-F712-1B1022A9F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F8C36-C64B-7409-BE9A-6122568DD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16380-6E52-7C01-B19C-4212F3732E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11718B-BFEC-4621-B5E4-08F56D92A02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79BB0-8213-10F4-4BCB-8B2E633E5F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D362C-EED8-9776-A5A5-D23C96453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350FC0-42EB-41BA-B2E6-7B0F181EF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68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67945-DC1A-D3BC-A6BB-137B92AF96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Cyrl-RS" dirty="0"/>
              <a:t>Давид Каран </a:t>
            </a:r>
            <a:r>
              <a:rPr lang="en-US" dirty="0"/>
              <a:t>IV-10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2029DB-6613-C824-8C76-F965FB63EB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sr-Cyrl-RS" dirty="0"/>
              <a:t>Теме:</a:t>
            </a:r>
          </a:p>
          <a:p>
            <a:r>
              <a:rPr lang="en-US" dirty="0"/>
              <a:t>1.2 Termini I </a:t>
            </a:r>
            <a:r>
              <a:rPr lang="en-US" dirty="0" err="1"/>
              <a:t>definicije</a:t>
            </a:r>
            <a:endParaRPr lang="en-US" dirty="0"/>
          </a:p>
          <a:p>
            <a:r>
              <a:rPr lang="en-US" dirty="0"/>
              <a:t>4.8 </a:t>
            </a:r>
            <a:r>
              <a:rPr lang="en-US" dirty="0" err="1"/>
              <a:t>Kritički</a:t>
            </a:r>
            <a:r>
              <a:rPr lang="en-US" dirty="0"/>
              <a:t> </a:t>
            </a:r>
            <a:r>
              <a:rPr lang="en-US" dirty="0" err="1"/>
              <a:t>pregled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 IBR</a:t>
            </a:r>
            <a:r>
              <a:rPr lang="sr-Cyrl-RS" dirty="0"/>
              <a:t> </a:t>
            </a:r>
            <a:endParaRPr lang="en-US" dirty="0"/>
          </a:p>
          <a:p>
            <a:r>
              <a:rPr lang="sr-Cyrl-RS" dirty="0"/>
              <a:t>Стр. 3-6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914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D7503-175F-BE42-A06C-1D6C81384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Дефекти у металима и полупроизводима по пореклу настанка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433ACC-E2EF-1007-1268-9EFC643FE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35" b="4709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C4A86-42A5-BEBE-570D-6E0F02506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en-US" sz="1800" b="1"/>
              <a:t>Дефекти се разликују по величини, локацији и природи настанка</a:t>
            </a:r>
            <a:r>
              <a:rPr lang="en-US" sz="1800"/>
              <a:t>, у зависности од процеса производње:</a:t>
            </a:r>
          </a:p>
          <a:p>
            <a:r>
              <a:rPr lang="en-US" sz="1800" b="1"/>
              <a:t>Топљење и ливење </a:t>
            </a:r>
            <a:r>
              <a:rPr lang="en-US" sz="1800"/>
              <a:t>(Празнине, поре, микропорозност, укључци, ликвација, прслине услед скупљања, "хладни преклопи“)</a:t>
            </a:r>
          </a:p>
          <a:p>
            <a:r>
              <a:rPr lang="en-US" sz="1800" b="1"/>
              <a:t>Пластична прерада </a:t>
            </a:r>
            <a:r>
              <a:rPr lang="en-US" sz="1800"/>
              <a:t>(Унутрашње/површинске прслине, раслојавање, дефекти при извлачењу, сузе, укључци, превaљаност, мехури)</a:t>
            </a:r>
          </a:p>
        </p:txBody>
      </p:sp>
    </p:spTree>
    <p:extLst>
      <p:ext uri="{BB962C8B-B14F-4D97-AF65-F5344CB8AC3E}">
        <p14:creationId xmlns:p14="http://schemas.microsoft.com/office/powerpoint/2010/main" val="3376938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9E0CD6-46D0-5EE8-0071-116930CF4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Пластична деформација метала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11491C-8218-D67E-3ED6-52C08ED6BC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531" y="643466"/>
            <a:ext cx="5132270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418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0D0894-0E46-732E-5CF9-714AAEBE1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77" r="1251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B6A843-CAFC-1E32-A154-5854BE7F5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1CCCC-E8EB-C21E-BD7F-AE1A1DA1F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2000" b="1" dirty="0" err="1"/>
              <a:t>Механичка</a:t>
            </a:r>
            <a:r>
              <a:rPr lang="en-US" sz="2000" b="1" dirty="0"/>
              <a:t> </a:t>
            </a:r>
            <a:r>
              <a:rPr lang="en-US" sz="2000" b="1" dirty="0" err="1"/>
              <a:t>обрада</a:t>
            </a:r>
            <a:r>
              <a:rPr lang="en-US" sz="2000" b="1" dirty="0"/>
              <a:t> </a:t>
            </a:r>
            <a:r>
              <a:rPr lang="en-US" sz="2000" dirty="0"/>
              <a:t>(</a:t>
            </a:r>
            <a:r>
              <a:rPr lang="en-US" sz="2000" dirty="0" err="1"/>
              <a:t>Брушење</a:t>
            </a:r>
            <a:r>
              <a:rPr lang="en-US" sz="2000" dirty="0"/>
              <a:t>, </a:t>
            </a:r>
            <a:r>
              <a:rPr lang="en-US" sz="2000" dirty="0" err="1"/>
              <a:t>прслине</a:t>
            </a:r>
            <a:r>
              <a:rPr lang="en-US" sz="2000" dirty="0"/>
              <a:t>, </a:t>
            </a:r>
            <a:r>
              <a:rPr lang="en-US" sz="2000" dirty="0" err="1"/>
              <a:t>огорине</a:t>
            </a:r>
            <a:r>
              <a:rPr lang="en-US" sz="2000" dirty="0"/>
              <a:t>)</a:t>
            </a:r>
          </a:p>
          <a:p>
            <a:r>
              <a:rPr lang="en-US" sz="2000" b="1" dirty="0" err="1"/>
              <a:t>Заваривање</a:t>
            </a:r>
            <a:r>
              <a:rPr lang="en-US" sz="2000" b="1" dirty="0"/>
              <a:t>, </a:t>
            </a:r>
            <a:r>
              <a:rPr lang="en-US" sz="2000" b="1" dirty="0" err="1"/>
              <a:t>лемљење</a:t>
            </a:r>
            <a:r>
              <a:rPr lang="en-US" sz="2000" b="1" dirty="0"/>
              <a:t>, </a:t>
            </a:r>
            <a:r>
              <a:rPr lang="en-US" sz="2000" b="1" dirty="0" err="1"/>
              <a:t>лепљење</a:t>
            </a:r>
            <a:r>
              <a:rPr lang="en-US" sz="2000" b="1" dirty="0"/>
              <a:t> </a:t>
            </a:r>
            <a:r>
              <a:rPr lang="en-US" sz="2000" dirty="0"/>
              <a:t>(</a:t>
            </a:r>
            <a:r>
              <a:rPr lang="en-US" sz="2000" dirty="0" err="1"/>
              <a:t>Недостатак</a:t>
            </a:r>
            <a:r>
              <a:rPr lang="en-US" sz="2000" dirty="0"/>
              <a:t> </a:t>
            </a:r>
            <a:r>
              <a:rPr lang="en-US" sz="2000" dirty="0" err="1"/>
              <a:t>уваривања</a:t>
            </a:r>
            <a:r>
              <a:rPr lang="en-US" sz="2000" dirty="0"/>
              <a:t>, </a:t>
            </a:r>
            <a:r>
              <a:rPr lang="en-US" sz="2000" dirty="0" err="1"/>
              <a:t>прслине</a:t>
            </a:r>
            <a:r>
              <a:rPr lang="en-US" sz="2000" dirty="0"/>
              <a:t>, </a:t>
            </a:r>
            <a:r>
              <a:rPr lang="en-US" sz="2000" dirty="0" err="1"/>
              <a:t>суви</a:t>
            </a:r>
            <a:r>
              <a:rPr lang="en-US" sz="2000" dirty="0"/>
              <a:t> </a:t>
            </a:r>
            <a:r>
              <a:rPr lang="en-US" sz="2000" dirty="0" err="1"/>
              <a:t>спојеви</a:t>
            </a:r>
            <a:r>
              <a:rPr lang="en-US" sz="2000" dirty="0"/>
              <a:t>, </a:t>
            </a:r>
            <a:r>
              <a:rPr lang="en-US" sz="2000" dirty="0" err="1"/>
              <a:t>губитак</a:t>
            </a:r>
            <a:r>
              <a:rPr lang="en-US" sz="2000" dirty="0"/>
              <a:t> </a:t>
            </a:r>
            <a:r>
              <a:rPr lang="en-US" sz="2000" dirty="0" err="1"/>
              <a:t>адхезије</a:t>
            </a:r>
            <a:r>
              <a:rPr lang="en-US" sz="2000" dirty="0"/>
              <a:t>)</a:t>
            </a:r>
          </a:p>
          <a:p>
            <a:r>
              <a:rPr lang="en-US" sz="2000" b="1" dirty="0" err="1"/>
              <a:t>Складиштење</a:t>
            </a:r>
            <a:r>
              <a:rPr lang="en-US" sz="2000" b="1" dirty="0"/>
              <a:t> и </a:t>
            </a:r>
            <a:r>
              <a:rPr lang="en-US" sz="2000" b="1" dirty="0" err="1"/>
              <a:t>руковање</a:t>
            </a:r>
            <a:r>
              <a:rPr lang="en-US" sz="2000" b="1" dirty="0"/>
              <a:t> </a:t>
            </a:r>
            <a:r>
              <a:rPr lang="en-US" sz="2000" dirty="0"/>
              <a:t>(</a:t>
            </a:r>
            <a:r>
              <a:rPr lang="en-US" sz="2000" dirty="0" err="1"/>
              <a:t>Корозиона</a:t>
            </a:r>
            <a:r>
              <a:rPr lang="en-US" sz="2000" dirty="0"/>
              <a:t> </a:t>
            </a:r>
            <a:r>
              <a:rPr lang="en-US" sz="2000" dirty="0" err="1"/>
              <a:t>оштећења</a:t>
            </a:r>
            <a:r>
              <a:rPr lang="en-US" sz="2000" dirty="0"/>
              <a:t>, </a:t>
            </a:r>
            <a:r>
              <a:rPr lang="en-US" sz="2000" dirty="0" err="1"/>
              <a:t>заморне</a:t>
            </a:r>
            <a:r>
              <a:rPr lang="en-US" sz="2000" dirty="0"/>
              <a:t> </a:t>
            </a:r>
            <a:r>
              <a:rPr lang="en-US" sz="2000" dirty="0" err="1"/>
              <a:t>прслине</a:t>
            </a:r>
            <a:r>
              <a:rPr lang="en-US" sz="2000" dirty="0"/>
              <a:t>, </a:t>
            </a:r>
            <a:r>
              <a:rPr lang="en-US" sz="2000" dirty="0" err="1"/>
              <a:t>термички</a:t>
            </a:r>
            <a:r>
              <a:rPr lang="en-US" sz="2000" dirty="0"/>
              <a:t> </a:t>
            </a:r>
            <a:r>
              <a:rPr lang="en-US" sz="2000" dirty="0" err="1"/>
              <a:t>замор</a:t>
            </a:r>
            <a:r>
              <a:rPr lang="en-US" sz="2000" dirty="0"/>
              <a:t>, </a:t>
            </a:r>
            <a:r>
              <a:rPr lang="en-US" sz="2000" dirty="0" err="1"/>
              <a:t>пузање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98796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16DFE5-6605-187E-CEA4-12FAA2786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Механичка обрада метала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9563F5-76C5-8239-F40F-5E394DF8A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1173253"/>
            <a:ext cx="6780700" cy="450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721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19A1C-0C05-3BC0-8A9F-BE50CF565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С</a:t>
            </a:r>
            <a:r>
              <a:rPr lang="en-US" dirty="0" err="1"/>
              <a:t>ваки</a:t>
            </a:r>
            <a:r>
              <a:rPr lang="en-US" dirty="0"/>
              <a:t> </a:t>
            </a:r>
            <a:r>
              <a:rPr lang="en-US" dirty="0" err="1"/>
              <a:t>процес</a:t>
            </a:r>
            <a:r>
              <a:rPr lang="en-US" dirty="0"/>
              <a:t> </a:t>
            </a:r>
            <a:r>
              <a:rPr lang="en-US" dirty="0" err="1"/>
              <a:t>производње</a:t>
            </a:r>
            <a:r>
              <a:rPr lang="en-US" dirty="0"/>
              <a:t> </a:t>
            </a:r>
            <a:r>
              <a:rPr lang="en-US" dirty="0" err="1"/>
              <a:t>оставља</a:t>
            </a:r>
            <a:r>
              <a:rPr lang="en-US" dirty="0"/>
              <a:t> </a:t>
            </a:r>
            <a:r>
              <a:rPr lang="en-US" dirty="0" err="1"/>
              <a:t>свој</a:t>
            </a:r>
            <a:r>
              <a:rPr lang="en-US" dirty="0"/>
              <a:t> "</a:t>
            </a:r>
            <a:r>
              <a:rPr lang="en-US" dirty="0" err="1"/>
              <a:t>потпис</a:t>
            </a:r>
            <a:r>
              <a:rPr lang="en-US" dirty="0"/>
              <a:t>" </a:t>
            </a:r>
            <a:r>
              <a:rPr lang="en-US" dirty="0" err="1"/>
              <a:t>дефекта</a:t>
            </a:r>
            <a:r>
              <a:rPr lang="en-US" dirty="0"/>
              <a:t> —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директно</a:t>
            </a:r>
            <a:r>
              <a:rPr lang="en-US" dirty="0"/>
              <a:t> </a:t>
            </a:r>
            <a:r>
              <a:rPr lang="en-US" dirty="0" err="1"/>
              <a:t>диктира</a:t>
            </a:r>
            <a:r>
              <a:rPr lang="en-US" dirty="0"/>
              <a:t> </a:t>
            </a:r>
            <a:r>
              <a:rPr lang="en-US" dirty="0" err="1"/>
              <a:t>коју</a:t>
            </a:r>
            <a:r>
              <a:rPr lang="en-US" dirty="0"/>
              <a:t> NDT </a:t>
            </a:r>
            <a:r>
              <a:rPr lang="en-US" dirty="0" err="1"/>
              <a:t>методу</a:t>
            </a:r>
            <a:r>
              <a:rPr lang="en-US" dirty="0"/>
              <a:t> </a:t>
            </a:r>
            <a:r>
              <a:rPr lang="en-US" dirty="0" err="1"/>
              <a:t>треба</a:t>
            </a:r>
            <a:r>
              <a:rPr lang="en-US" dirty="0"/>
              <a:t> </a:t>
            </a:r>
            <a:r>
              <a:rPr lang="en-US" dirty="0" err="1"/>
              <a:t>применити</a:t>
            </a:r>
            <a:r>
              <a:rPr lang="en-US" dirty="0"/>
              <a:t> и </a:t>
            </a:r>
            <a:r>
              <a:rPr lang="en-US" dirty="0" err="1"/>
              <a:t>где</a:t>
            </a:r>
            <a:r>
              <a:rPr lang="en-US" dirty="0"/>
              <a:t> (</a:t>
            </a:r>
            <a:r>
              <a:rPr lang="en-US" dirty="0" err="1"/>
              <a:t>структура</a:t>
            </a:r>
            <a:r>
              <a:rPr lang="en-US" dirty="0"/>
              <a:t> vs. </a:t>
            </a:r>
            <a:r>
              <a:rPr lang="en-US" dirty="0" err="1"/>
              <a:t>турбомотор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268800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09023-E00A-FE2D-93AC-8D0197FFE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Карактеристична</a:t>
            </a:r>
            <a:r>
              <a:rPr lang="en-US" dirty="0"/>
              <a:t> </a:t>
            </a:r>
            <a:r>
              <a:rPr lang="en-US" dirty="0" err="1"/>
              <a:t>величина</a:t>
            </a:r>
            <a:r>
              <a:rPr lang="en-US" dirty="0"/>
              <a:t> </a:t>
            </a:r>
            <a:r>
              <a:rPr lang="en-US" dirty="0" err="1"/>
              <a:t>дефекта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D29ED-B49B-2768-536C-A078927C1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 err="1"/>
              <a:t>Сваки</a:t>
            </a:r>
            <a:r>
              <a:rPr lang="en-US" dirty="0"/>
              <a:t> </a:t>
            </a:r>
            <a:r>
              <a:rPr lang="en-US" dirty="0" err="1"/>
              <a:t>дефект</a:t>
            </a:r>
            <a:r>
              <a:rPr lang="en-US" dirty="0"/>
              <a:t> </a:t>
            </a:r>
            <a:r>
              <a:rPr lang="en-US" dirty="0" err="1"/>
              <a:t>има</a:t>
            </a:r>
            <a:r>
              <a:rPr lang="en-US" dirty="0"/>
              <a:t> </a:t>
            </a:r>
            <a:r>
              <a:rPr lang="en-US" dirty="0" err="1"/>
              <a:t>мерљиву</a:t>
            </a:r>
            <a:r>
              <a:rPr lang="en-US" dirty="0"/>
              <a:t> </a:t>
            </a:r>
            <a:r>
              <a:rPr lang="en-US" dirty="0" err="1"/>
              <a:t>карактеристичну</a:t>
            </a:r>
            <a:r>
              <a:rPr lang="en-US" dirty="0"/>
              <a:t> </a:t>
            </a:r>
            <a:r>
              <a:rPr lang="en-US" dirty="0" err="1"/>
              <a:t>величину</a:t>
            </a:r>
            <a:r>
              <a:rPr lang="en-US" dirty="0"/>
              <a:t>, </a:t>
            </a:r>
            <a:r>
              <a:rPr lang="en-US" dirty="0" err="1"/>
              <a:t>специфичну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методу</a:t>
            </a:r>
            <a:r>
              <a:rPr lang="en-US" dirty="0"/>
              <a:t>:</a:t>
            </a:r>
          </a:p>
          <a:p>
            <a:pPr lvl="0"/>
            <a:r>
              <a:rPr lang="en-US" b="1" dirty="0" err="1"/>
              <a:t>Радиографија</a:t>
            </a:r>
            <a:r>
              <a:rPr lang="en-US" b="1" dirty="0"/>
              <a:t> / </a:t>
            </a:r>
            <a:r>
              <a:rPr lang="en-US" b="1" dirty="0" err="1"/>
              <a:t>електромагнетно</a:t>
            </a:r>
            <a:r>
              <a:rPr lang="en-US" dirty="0"/>
              <a:t> → </a:t>
            </a:r>
            <a:r>
              <a:rPr lang="en-US" dirty="0" err="1"/>
              <a:t>однос</a:t>
            </a:r>
            <a:r>
              <a:rPr lang="en-US" dirty="0"/>
              <a:t> </a:t>
            </a:r>
            <a:r>
              <a:rPr lang="en-US" dirty="0" err="1"/>
              <a:t>дубине</a:t>
            </a:r>
            <a:r>
              <a:rPr lang="en-US" dirty="0"/>
              <a:t> </a:t>
            </a:r>
            <a:r>
              <a:rPr lang="en-US" dirty="0" err="1"/>
              <a:t>дефекта</a:t>
            </a:r>
            <a:r>
              <a:rPr lang="en-US" dirty="0"/>
              <a:t> </a:t>
            </a:r>
            <a:r>
              <a:rPr lang="en-US" dirty="0" err="1"/>
              <a:t>према</a:t>
            </a:r>
            <a:r>
              <a:rPr lang="en-US" dirty="0"/>
              <a:t> </a:t>
            </a:r>
            <a:r>
              <a:rPr lang="en-US" dirty="0" err="1"/>
              <a:t>дебљини</a:t>
            </a:r>
            <a:r>
              <a:rPr lang="en-US" dirty="0"/>
              <a:t> </a:t>
            </a:r>
            <a:r>
              <a:rPr lang="en-US" dirty="0" err="1"/>
              <a:t>метала</a:t>
            </a:r>
            <a:r>
              <a:rPr lang="en-US" dirty="0"/>
              <a:t> (</a:t>
            </a:r>
            <a:r>
              <a:rPr lang="en-US" dirty="0" err="1"/>
              <a:t>бездимензионо</a:t>
            </a:r>
            <a:r>
              <a:rPr lang="en-US" dirty="0"/>
              <a:t>)</a:t>
            </a:r>
          </a:p>
          <a:p>
            <a:pPr lvl="0"/>
            <a:r>
              <a:rPr lang="en-US" b="1" dirty="0" err="1"/>
              <a:t>Ултразвук</a:t>
            </a:r>
            <a:r>
              <a:rPr lang="en-US" dirty="0"/>
              <a:t> → </a:t>
            </a:r>
            <a:r>
              <a:rPr lang="en-US" dirty="0" err="1"/>
              <a:t>еквивалентна</a:t>
            </a:r>
            <a:r>
              <a:rPr lang="en-US" dirty="0"/>
              <a:t> </a:t>
            </a:r>
            <a:r>
              <a:rPr lang="en-US" dirty="0" err="1"/>
              <a:t>површина</a:t>
            </a:r>
            <a:r>
              <a:rPr lang="en-US" dirty="0"/>
              <a:t> </a:t>
            </a:r>
            <a:r>
              <a:rPr lang="en-US" dirty="0" err="1"/>
              <a:t>дефекта</a:t>
            </a:r>
            <a:r>
              <a:rPr lang="en-US" dirty="0"/>
              <a:t> (mm²)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коефицијент</a:t>
            </a:r>
            <a:r>
              <a:rPr lang="en-US" dirty="0"/>
              <a:t> </a:t>
            </a:r>
            <a:r>
              <a:rPr lang="en-US" dirty="0" err="1"/>
              <a:t>осетљивости</a:t>
            </a:r>
            <a:r>
              <a:rPr lang="en-US" dirty="0"/>
              <a:t> (</a:t>
            </a:r>
            <a:r>
              <a:rPr lang="en-US" dirty="0" err="1"/>
              <a:t>бездимензионо</a:t>
            </a:r>
            <a:r>
              <a:rPr lang="en-US" dirty="0"/>
              <a:t>)</a:t>
            </a:r>
          </a:p>
          <a:p>
            <a:pPr lvl="0"/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исти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дефекта</a:t>
            </a:r>
            <a:r>
              <a:rPr lang="en-US" dirty="0"/>
              <a:t>, </a:t>
            </a:r>
            <a:r>
              <a:rPr lang="en-US" dirty="0" err="1"/>
              <a:t>вредност</a:t>
            </a:r>
            <a:r>
              <a:rPr lang="en-US" dirty="0"/>
              <a:t> </a:t>
            </a:r>
            <a:r>
              <a:rPr lang="en-US" dirty="0" err="1"/>
              <a:t>варира</a:t>
            </a:r>
            <a:r>
              <a:rPr lang="en-US" dirty="0"/>
              <a:t> у </a:t>
            </a:r>
            <a:r>
              <a:rPr lang="en-US" dirty="0" err="1"/>
              <a:t>различитим</a:t>
            </a:r>
            <a:r>
              <a:rPr lang="en-US" dirty="0"/>
              <a:t> </a:t>
            </a:r>
            <a:r>
              <a:rPr lang="en-US" dirty="0" err="1"/>
              <a:t>опсезима</a:t>
            </a:r>
            <a:r>
              <a:rPr lang="en-US" dirty="0"/>
              <a:t> </a:t>
            </a:r>
            <a:r>
              <a:rPr lang="en-US" dirty="0" err="1"/>
              <a:t>услед</a:t>
            </a:r>
            <a:r>
              <a:rPr lang="en-US" dirty="0"/>
              <a:t> </a:t>
            </a:r>
            <a:r>
              <a:rPr lang="en-US" dirty="0" err="1"/>
              <a:t>бројних</a:t>
            </a:r>
            <a:r>
              <a:rPr lang="en-US" dirty="0"/>
              <a:t> </a:t>
            </a:r>
            <a:r>
              <a:rPr lang="en-US" dirty="0" err="1"/>
              <a:t>фактора</a:t>
            </a:r>
            <a:endParaRPr lang="en-US" dirty="0"/>
          </a:p>
          <a:p>
            <a:pPr lvl="0"/>
            <a:r>
              <a:rPr lang="en-US" b="1" dirty="0" err="1"/>
              <a:t>Општа</a:t>
            </a:r>
            <a:r>
              <a:rPr lang="en-US" b="1" dirty="0"/>
              <a:t> </a:t>
            </a:r>
            <a:r>
              <a:rPr lang="en-US" b="1" dirty="0" err="1"/>
              <a:t>осетљивост</a:t>
            </a:r>
            <a:r>
              <a:rPr lang="en-US" b="1" dirty="0"/>
              <a:t> </a:t>
            </a:r>
            <a:r>
              <a:rPr lang="en-US" b="1" dirty="0" err="1"/>
              <a:t>детектора</a:t>
            </a:r>
            <a:r>
              <a:rPr lang="en-US" dirty="0"/>
              <a:t> = </a:t>
            </a:r>
            <a:r>
              <a:rPr lang="en-US" dirty="0" err="1"/>
              <a:t>минимална</a:t>
            </a:r>
            <a:r>
              <a:rPr lang="en-US" dirty="0"/>
              <a:t> </a:t>
            </a:r>
            <a:r>
              <a:rPr lang="en-US" dirty="0" err="1"/>
              <a:t>величина</a:t>
            </a:r>
            <a:r>
              <a:rPr lang="en-US" dirty="0"/>
              <a:t> </a:t>
            </a:r>
            <a:r>
              <a:rPr lang="en-US" dirty="0" err="1"/>
              <a:t>дефекта</a:t>
            </a:r>
            <a:r>
              <a:rPr lang="en-US" dirty="0"/>
              <a:t> </a:t>
            </a:r>
            <a:r>
              <a:rPr lang="en-US" dirty="0" err="1"/>
              <a:t>коју</a:t>
            </a:r>
            <a:r>
              <a:rPr lang="en-US" dirty="0"/>
              <a:t> </a:t>
            </a:r>
            <a:r>
              <a:rPr lang="en-US" dirty="0" err="1"/>
              <a:t>уређај</a:t>
            </a:r>
            <a:r>
              <a:rPr lang="en-US" dirty="0"/>
              <a:t> </a:t>
            </a:r>
            <a:r>
              <a:rPr lang="en-US" dirty="0" err="1"/>
              <a:t>може</a:t>
            </a:r>
            <a:r>
              <a:rPr lang="en-US" dirty="0"/>
              <a:t> </a:t>
            </a:r>
            <a:r>
              <a:rPr lang="en-US" dirty="0" err="1"/>
              <a:t>открити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задатом</a:t>
            </a:r>
            <a:r>
              <a:rPr lang="en-US" dirty="0"/>
              <a:t> </a:t>
            </a:r>
            <a:r>
              <a:rPr lang="en-US" dirty="0" err="1"/>
              <a:t>подешавању</a:t>
            </a:r>
            <a:endParaRPr lang="en-US" dirty="0"/>
          </a:p>
          <a:p>
            <a:pPr lvl="0"/>
            <a:r>
              <a:rPr lang="en-US" dirty="0" err="1"/>
              <a:t>Иста</a:t>
            </a:r>
            <a:r>
              <a:rPr lang="en-US" dirty="0"/>
              <a:t> </a:t>
            </a:r>
            <a:r>
              <a:rPr lang="en-US" dirty="0" err="1"/>
              <a:t>калибрација</a:t>
            </a:r>
            <a:r>
              <a:rPr lang="en-US" dirty="0"/>
              <a:t> </a:t>
            </a:r>
            <a:r>
              <a:rPr lang="en-US" dirty="0" err="1"/>
              <a:t>може</a:t>
            </a:r>
            <a:r>
              <a:rPr lang="en-US" dirty="0"/>
              <a:t> </a:t>
            </a:r>
            <a:r>
              <a:rPr lang="en-US" dirty="0" err="1"/>
              <a:t>дати</a:t>
            </a:r>
            <a:r>
              <a:rPr lang="en-US" dirty="0"/>
              <a:t> </a:t>
            </a:r>
            <a:r>
              <a:rPr lang="en-US" dirty="0" err="1"/>
              <a:t>различиту</a:t>
            </a:r>
            <a:r>
              <a:rPr lang="en-US" dirty="0"/>
              <a:t> </a:t>
            </a:r>
            <a:r>
              <a:rPr lang="en-US" dirty="0" err="1"/>
              <a:t>осетљивост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различитим</a:t>
            </a:r>
            <a:r>
              <a:rPr lang="en-US" dirty="0"/>
              <a:t> </a:t>
            </a:r>
            <a:r>
              <a:rPr lang="en-US" dirty="0" err="1"/>
              <a:t>материјалима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434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140DA-9655-8083-04A9-9B23500B6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Поузданост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"</a:t>
            </a:r>
            <a:r>
              <a:rPr lang="en-US" dirty="0" err="1"/>
              <a:t>уређај</a:t>
            </a:r>
            <a:r>
              <a:rPr lang="en-US" dirty="0"/>
              <a:t>–</a:t>
            </a:r>
            <a:r>
              <a:rPr lang="en-US" dirty="0" err="1"/>
              <a:t>оператер</a:t>
            </a:r>
            <a:r>
              <a:rPr lang="en-US" dirty="0"/>
              <a:t>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91D4A-8AE9-33C6-FB41-F5764A036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en-US" b="1" dirty="0" err="1"/>
              <a:t>Поузданост</a:t>
            </a:r>
            <a:r>
              <a:rPr lang="en-US" dirty="0"/>
              <a:t> = </a:t>
            </a:r>
            <a:r>
              <a:rPr lang="en-US" dirty="0" err="1"/>
              <a:t>способност</a:t>
            </a:r>
            <a:r>
              <a:rPr lang="en-US" dirty="0"/>
              <a:t> </a:t>
            </a:r>
            <a:r>
              <a:rPr lang="en-US" dirty="0" err="1"/>
              <a:t>одржавања</a:t>
            </a:r>
            <a:r>
              <a:rPr lang="en-US" dirty="0"/>
              <a:t> </a:t>
            </a:r>
            <a:r>
              <a:rPr lang="en-US" dirty="0" err="1"/>
              <a:t>свих</a:t>
            </a:r>
            <a:r>
              <a:rPr lang="en-US" dirty="0"/>
              <a:t> </a:t>
            </a:r>
            <a:r>
              <a:rPr lang="en-US" dirty="0" err="1"/>
              <a:t>параметара</a:t>
            </a:r>
            <a:r>
              <a:rPr lang="en-US" dirty="0"/>
              <a:t> </a:t>
            </a:r>
            <a:r>
              <a:rPr lang="en-US" dirty="0" err="1"/>
              <a:t>унутар</a:t>
            </a:r>
            <a:r>
              <a:rPr lang="en-US" dirty="0"/>
              <a:t> </a:t>
            </a:r>
            <a:r>
              <a:rPr lang="en-US" dirty="0" err="1"/>
              <a:t>задатих</a:t>
            </a:r>
            <a:r>
              <a:rPr lang="en-US" dirty="0"/>
              <a:t> </a:t>
            </a:r>
            <a:r>
              <a:rPr lang="en-US" dirty="0" err="1"/>
              <a:t>граница</a:t>
            </a:r>
            <a:r>
              <a:rPr lang="en-US" dirty="0"/>
              <a:t>, </a:t>
            </a:r>
            <a:r>
              <a:rPr lang="en-US" dirty="0" err="1"/>
              <a:t>кроз</a:t>
            </a:r>
            <a:r>
              <a:rPr lang="en-US" dirty="0"/>
              <a:t> </a:t>
            </a:r>
            <a:r>
              <a:rPr lang="en-US" dirty="0" err="1"/>
              <a:t>рад</a:t>
            </a:r>
            <a:r>
              <a:rPr lang="en-US" dirty="0"/>
              <a:t>, </a:t>
            </a:r>
            <a:r>
              <a:rPr lang="en-US" dirty="0" err="1"/>
              <a:t>одржавање</a:t>
            </a:r>
            <a:r>
              <a:rPr lang="en-US" dirty="0"/>
              <a:t>, </a:t>
            </a:r>
            <a:r>
              <a:rPr lang="en-US" dirty="0" err="1"/>
              <a:t>репарацију</a:t>
            </a:r>
            <a:r>
              <a:rPr lang="en-US" dirty="0"/>
              <a:t>, </a:t>
            </a:r>
            <a:r>
              <a:rPr lang="en-US" dirty="0" err="1"/>
              <a:t>складиштење</a:t>
            </a:r>
            <a:r>
              <a:rPr lang="en-US" dirty="0"/>
              <a:t> и </a:t>
            </a:r>
            <a:r>
              <a:rPr lang="en-US" dirty="0" err="1"/>
              <a:t>транспорт</a:t>
            </a:r>
            <a:endParaRPr lang="en-US" dirty="0"/>
          </a:p>
          <a:p>
            <a:pPr lvl="0"/>
            <a:r>
              <a:rPr lang="en-US" b="1" dirty="0" err="1"/>
              <a:t>Поузданост</a:t>
            </a:r>
            <a:r>
              <a:rPr lang="en-US" b="1" dirty="0"/>
              <a:t> </a:t>
            </a:r>
            <a:r>
              <a:rPr lang="en-US" b="1" dirty="0" err="1"/>
              <a:t>уређаја</a:t>
            </a:r>
            <a:r>
              <a:rPr lang="en-US" dirty="0"/>
              <a:t> </a:t>
            </a:r>
            <a:r>
              <a:rPr lang="en-US" dirty="0" err="1"/>
              <a:t>расте</a:t>
            </a:r>
            <a:r>
              <a:rPr lang="en-US" dirty="0"/>
              <a:t> </a:t>
            </a:r>
            <a:r>
              <a:rPr lang="en-US" dirty="0" err="1"/>
              <a:t>кроз</a:t>
            </a:r>
            <a:r>
              <a:rPr lang="en-US" dirty="0"/>
              <a:t> </a:t>
            </a:r>
            <a:r>
              <a:rPr lang="en-US" dirty="0" err="1"/>
              <a:t>систематску</a:t>
            </a:r>
            <a:r>
              <a:rPr lang="en-US" dirty="0"/>
              <a:t> </a:t>
            </a:r>
            <a:r>
              <a:rPr lang="en-US" dirty="0" err="1"/>
              <a:t>верификацију</a:t>
            </a:r>
            <a:r>
              <a:rPr lang="en-US" dirty="0"/>
              <a:t> и </a:t>
            </a:r>
            <a:r>
              <a:rPr lang="en-US" dirty="0" err="1"/>
              <a:t>уградњу</a:t>
            </a:r>
            <a:r>
              <a:rPr lang="en-US" dirty="0"/>
              <a:t> </a:t>
            </a:r>
            <a:r>
              <a:rPr lang="en-US" dirty="0" err="1"/>
              <a:t>самоконтролних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endParaRPr lang="en-US" dirty="0"/>
          </a:p>
          <a:p>
            <a:pPr lvl="0"/>
            <a:r>
              <a:rPr lang="en-US" b="1" dirty="0" err="1"/>
              <a:t>Поузданост</a:t>
            </a:r>
            <a:r>
              <a:rPr lang="en-US" b="1" dirty="0"/>
              <a:t> </a:t>
            </a:r>
            <a:r>
              <a:rPr lang="en-US" b="1" dirty="0" err="1"/>
              <a:t>оператера</a:t>
            </a:r>
            <a:r>
              <a:rPr lang="en-US" dirty="0"/>
              <a:t> </a:t>
            </a:r>
            <a:r>
              <a:rPr lang="en-US" dirty="0" err="1"/>
              <a:t>расте</a:t>
            </a:r>
            <a:r>
              <a:rPr lang="en-US" dirty="0"/>
              <a:t> </a:t>
            </a:r>
            <a:r>
              <a:rPr lang="en-US" dirty="0" err="1"/>
              <a:t>кроз</a:t>
            </a:r>
            <a:r>
              <a:rPr lang="en-US" dirty="0"/>
              <a:t> </a:t>
            </a:r>
            <a:r>
              <a:rPr lang="en-US" dirty="0" err="1"/>
              <a:t>самопровере</a:t>
            </a:r>
            <a:r>
              <a:rPr lang="en-US" dirty="0"/>
              <a:t> у </a:t>
            </a:r>
            <a:r>
              <a:rPr lang="en-US" dirty="0" err="1"/>
              <a:t>процедурама</a:t>
            </a:r>
            <a:r>
              <a:rPr lang="en-US" dirty="0"/>
              <a:t> и </a:t>
            </a:r>
            <a:r>
              <a:rPr lang="en-US" dirty="0" err="1"/>
              <a:t>инспекторску</a:t>
            </a:r>
            <a:r>
              <a:rPr lang="en-US" dirty="0"/>
              <a:t> </a:t>
            </a:r>
            <a:r>
              <a:rPr lang="en-US" dirty="0" err="1"/>
              <a:t>контролу</a:t>
            </a:r>
            <a:endParaRPr lang="en-US" dirty="0"/>
          </a:p>
          <a:p>
            <a:pPr lvl="0"/>
            <a:r>
              <a:rPr lang="en-US" dirty="0" err="1"/>
              <a:t>Систем</a:t>
            </a:r>
            <a:r>
              <a:rPr lang="en-US" dirty="0"/>
              <a:t> "</a:t>
            </a:r>
            <a:r>
              <a:rPr lang="en-US" dirty="0" err="1"/>
              <a:t>уређај</a:t>
            </a:r>
            <a:r>
              <a:rPr lang="en-US" dirty="0"/>
              <a:t>–</a:t>
            </a:r>
            <a:r>
              <a:rPr lang="en-US" dirty="0" err="1"/>
              <a:t>оператер</a:t>
            </a:r>
            <a:r>
              <a:rPr lang="en-US" dirty="0"/>
              <a:t>" </a:t>
            </a:r>
            <a:r>
              <a:rPr lang="en-US" dirty="0" err="1"/>
              <a:t>заједно</a:t>
            </a:r>
            <a:r>
              <a:rPr lang="en-US" dirty="0"/>
              <a:t> </a:t>
            </a:r>
            <a:r>
              <a:rPr lang="en-US" dirty="0" err="1"/>
              <a:t>чини</a:t>
            </a:r>
            <a:r>
              <a:rPr lang="en-US" dirty="0"/>
              <a:t> </a:t>
            </a:r>
            <a:r>
              <a:rPr lang="en-US" b="1" dirty="0" err="1"/>
              <a:t>критеријум</a:t>
            </a:r>
            <a:r>
              <a:rPr lang="en-US" b="1" dirty="0"/>
              <a:t> </a:t>
            </a:r>
            <a:r>
              <a:rPr lang="en-US" b="1" dirty="0" err="1"/>
              <a:t>поузданости</a:t>
            </a:r>
            <a:r>
              <a:rPr lang="en-US" dirty="0"/>
              <a:t>:</a:t>
            </a:r>
          </a:p>
          <a:p>
            <a:pPr lvl="0"/>
            <a:r>
              <a:rPr lang="en-US" dirty="0" err="1"/>
              <a:t>Лоша</a:t>
            </a:r>
            <a:r>
              <a:rPr lang="en-US" dirty="0"/>
              <a:t> </a:t>
            </a:r>
            <a:r>
              <a:rPr lang="en-US" dirty="0" err="1"/>
              <a:t>опрема</a:t>
            </a:r>
            <a:r>
              <a:rPr lang="en-US" dirty="0"/>
              <a:t> → </a:t>
            </a:r>
            <a:r>
              <a:rPr lang="en-US" dirty="0" err="1"/>
              <a:t>отежава</a:t>
            </a:r>
            <a:r>
              <a:rPr lang="en-US" dirty="0"/>
              <a:t> </a:t>
            </a:r>
            <a:r>
              <a:rPr lang="en-US" dirty="0" err="1"/>
              <a:t>рад</a:t>
            </a:r>
            <a:r>
              <a:rPr lang="en-US" dirty="0"/>
              <a:t> </a:t>
            </a:r>
            <a:r>
              <a:rPr lang="en-US" dirty="0" err="1"/>
              <a:t>оператера</a:t>
            </a:r>
            <a:endParaRPr lang="en-US" dirty="0"/>
          </a:p>
          <a:p>
            <a:pPr lvl="0"/>
            <a:r>
              <a:rPr lang="en-US" dirty="0" err="1"/>
              <a:t>Лош</a:t>
            </a:r>
            <a:r>
              <a:rPr lang="en-US" dirty="0"/>
              <a:t> </a:t>
            </a:r>
            <a:r>
              <a:rPr lang="en-US" dirty="0" err="1"/>
              <a:t>рад</a:t>
            </a:r>
            <a:r>
              <a:rPr lang="en-US" dirty="0"/>
              <a:t> </a:t>
            </a:r>
            <a:r>
              <a:rPr lang="en-US" dirty="0" err="1"/>
              <a:t>оператера</a:t>
            </a:r>
            <a:r>
              <a:rPr lang="en-US" dirty="0"/>
              <a:t> → </a:t>
            </a:r>
            <a:r>
              <a:rPr lang="en-US" dirty="0" err="1"/>
              <a:t>убрзава</a:t>
            </a:r>
            <a:r>
              <a:rPr lang="en-US" dirty="0"/>
              <a:t> </a:t>
            </a:r>
            <a:r>
              <a:rPr lang="en-US" dirty="0" err="1"/>
              <a:t>хабање</a:t>
            </a:r>
            <a:r>
              <a:rPr lang="en-US" dirty="0"/>
              <a:t> </a:t>
            </a:r>
            <a:r>
              <a:rPr lang="en-US" dirty="0" err="1"/>
              <a:t>опреме</a:t>
            </a:r>
            <a:endParaRPr lang="en-US" dirty="0"/>
          </a:p>
          <a:p>
            <a:pPr lvl="0"/>
            <a:r>
              <a:rPr lang="en-US" b="1" dirty="0" err="1"/>
              <a:t>Кључан</a:t>
            </a:r>
            <a:r>
              <a:rPr lang="en-US" b="1" dirty="0"/>
              <a:t> </a:t>
            </a:r>
            <a:r>
              <a:rPr lang="en-US" b="1" dirty="0" err="1"/>
              <a:t>закључак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укупна</a:t>
            </a:r>
            <a:r>
              <a:rPr lang="en-US" dirty="0"/>
              <a:t> </a:t>
            </a:r>
            <a:r>
              <a:rPr lang="en-US" dirty="0" err="1"/>
              <a:t>поузданост</a:t>
            </a:r>
            <a:r>
              <a:rPr lang="en-US" dirty="0"/>
              <a:t> </a:t>
            </a:r>
            <a:r>
              <a:rPr lang="en-US" b="1" dirty="0" err="1"/>
              <a:t>није</a:t>
            </a:r>
            <a:r>
              <a:rPr lang="en-US" dirty="0"/>
              <a:t> </a:t>
            </a:r>
            <a:r>
              <a:rPr lang="en-US" dirty="0" err="1"/>
              <a:t>прост</a:t>
            </a:r>
            <a:r>
              <a:rPr lang="en-US" dirty="0"/>
              <a:t> </a:t>
            </a:r>
            <a:r>
              <a:rPr lang="en-US" dirty="0" err="1"/>
              <a:t>производ</a:t>
            </a:r>
            <a:r>
              <a:rPr lang="en-US" dirty="0"/>
              <a:t> </a:t>
            </a:r>
            <a:r>
              <a:rPr lang="en-US" dirty="0" err="1"/>
              <a:t>поузданости</a:t>
            </a:r>
            <a:r>
              <a:rPr lang="en-US" dirty="0"/>
              <a:t> </a:t>
            </a:r>
            <a:r>
              <a:rPr lang="en-US" dirty="0" err="1"/>
              <a:t>уређаја</a:t>
            </a:r>
            <a:r>
              <a:rPr lang="en-US" dirty="0"/>
              <a:t> и </a:t>
            </a:r>
            <a:r>
              <a:rPr lang="en-US" dirty="0" err="1"/>
              <a:t>поузданости</a:t>
            </a:r>
            <a:r>
              <a:rPr lang="en-US" dirty="0"/>
              <a:t> </a:t>
            </a:r>
            <a:r>
              <a:rPr lang="en-US" dirty="0" err="1"/>
              <a:t>оператера</a:t>
            </a:r>
            <a:r>
              <a:rPr lang="en-US" dirty="0"/>
              <a:t> — </a:t>
            </a:r>
            <a:r>
              <a:rPr lang="en-US" dirty="0" err="1"/>
              <a:t>реч</a:t>
            </a:r>
            <a:r>
              <a:rPr lang="en-US" dirty="0"/>
              <a:t> </a:t>
            </a:r>
            <a:r>
              <a:rPr lang="en-US" dirty="0" err="1"/>
              <a:t>је</a:t>
            </a:r>
            <a:r>
              <a:rPr lang="en-US" dirty="0"/>
              <a:t> о </a:t>
            </a:r>
            <a:r>
              <a:rPr lang="en-US" dirty="0" err="1"/>
              <a:t>међузависном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904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575784-4DA6-1D7A-AAD1-29B77CE9F3E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4973D9-318F-BB48-EF2B-5FE128492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r-Cyrl-RS" dirty="0"/>
              <a:t>Методе испитивања без разарања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DCA63A-37F5-CBD5-AAF8-080A4094FA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61494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50914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94BA84-AAC0-D686-C953-2A99CC3B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Оптичка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1E9D16-BF05-5475-B190-3E5C5160A6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92" r="-2" b="15670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3EF470-30D7-704A-C79F-6208626AB4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0" b="3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793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5C55F8-0694-EC02-C901-47BA9B679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2617" y="252443"/>
            <a:ext cx="4349392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Радиографска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E14EEA-F121-5EDE-0A90-9A8CC65A01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029" y="126418"/>
            <a:ext cx="4144739" cy="66051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A508C4-5237-B4CB-A574-D582BC1DA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798" y="2365285"/>
            <a:ext cx="5251674" cy="393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64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53DB29-E5A0-3D9D-7454-2851773CE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Магнетна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B482E4-8329-E52D-A6E0-4888536095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34" y="2389481"/>
            <a:ext cx="5828261" cy="3890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9A5697-FE65-18F0-6872-9E903A012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505" y="2804744"/>
            <a:ext cx="5828261" cy="305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40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51F6560-D61C-400F-B71A-3FDEBF451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9DAF789-D93B-6F1E-C2B6-5ECA84B60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6639"/>
            <a:ext cx="11090274" cy="67544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4200"/>
              <a:t>Пенетранти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ACF7D6-073E-9CA6-A590-7F60E58F26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2" y="2133600"/>
            <a:ext cx="7386902" cy="41736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9FFCCC-E866-6AF2-ECC5-FE7816F2C0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125" y="2133601"/>
            <a:ext cx="3130199" cy="4173599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5561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BF349-BAB2-0040-E20C-696E7C6A3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Вртложне струје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E398C6-6D83-3EC5-8347-8FF094EFA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17" y="2365285"/>
            <a:ext cx="5216895" cy="3938756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5E41B1-A5ED-13E5-BF74-A174ABB24A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505" y="2389481"/>
            <a:ext cx="5828261" cy="389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889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22E2A-E1E6-9A7F-71F7-62894AEB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Акустична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260D27-C14D-1D4B-4FAB-9D01BE8CDA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42" y="2365285"/>
            <a:ext cx="4923445" cy="39387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0C5CD9-6CE2-184B-8E2B-9EA97CFA03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505" y="2608041"/>
            <a:ext cx="5828261" cy="345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697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5980A-F882-66EA-C2F0-C3012E02F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87C02-0791-8611-C427-40D29B09B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У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табели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дати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су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типови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дефеката</a:t>
            </a:r>
            <a:r>
              <a:rPr lang="en-US" dirty="0"/>
              <a:t> </a:t>
            </a:r>
            <a:r>
              <a:rPr lang="en-US" dirty="0">
                <a:effectLst/>
              </a:rPr>
              <a:t>и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препоручене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методе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испитивања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без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разарања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за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њихову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детекцију</a:t>
            </a:r>
            <a:r>
              <a:rPr lang="en-US" dirty="0"/>
              <a:t> </a:t>
            </a:r>
            <a:r>
              <a:rPr lang="en-US" dirty="0">
                <a:effectLst/>
              </a:rPr>
              <a:t>и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дијагностику</a:t>
            </a:r>
            <a:r>
              <a:rPr lang="en-US" dirty="0">
                <a:effectLst/>
              </a:rPr>
              <a:t>.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Могућност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откривања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сваког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типа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дефекта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оцењена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је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скалом</a:t>
            </a:r>
            <a:r>
              <a:rPr lang="en-US" dirty="0"/>
              <a:t> </a:t>
            </a:r>
            <a:r>
              <a:rPr lang="en-US" dirty="0">
                <a:effectLst/>
              </a:rPr>
              <a:t>1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до</a:t>
            </a:r>
            <a:r>
              <a:rPr lang="en-US" dirty="0"/>
              <a:t> </a:t>
            </a:r>
            <a:r>
              <a:rPr lang="en-US" dirty="0">
                <a:effectLst/>
              </a:rPr>
              <a:t>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544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29659-2E69-9C34-7CA8-9452F669F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743" y="731731"/>
            <a:ext cx="9444037" cy="954194"/>
          </a:xfrm>
        </p:spPr>
        <p:txBody>
          <a:bodyPr anchor="t">
            <a:normAutofit/>
          </a:bodyPr>
          <a:lstStyle/>
          <a:p>
            <a:pPr algn="ctr"/>
            <a:endParaRPr lang="en-US" sz="320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FFD88EC-88C4-84F0-FCB0-85DEEFE065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5674150"/>
              </p:ext>
            </p:extLst>
          </p:nvPr>
        </p:nvGraphicFramePr>
        <p:xfrm>
          <a:off x="1266251" y="1948920"/>
          <a:ext cx="9684051" cy="3302721"/>
        </p:xfrm>
        <a:graphic>
          <a:graphicData uri="http://schemas.openxmlformats.org/drawingml/2006/table">
            <a:tbl>
              <a:tblPr/>
              <a:tblGrid>
                <a:gridCol w="2255898">
                  <a:extLst>
                    <a:ext uri="{9D8B030D-6E8A-4147-A177-3AD203B41FA5}">
                      <a16:colId xmlns:a16="http://schemas.microsoft.com/office/drawing/2014/main" val="1291830366"/>
                    </a:ext>
                  </a:extLst>
                </a:gridCol>
                <a:gridCol w="1269596">
                  <a:extLst>
                    <a:ext uri="{9D8B030D-6E8A-4147-A177-3AD203B41FA5}">
                      <a16:colId xmlns:a16="http://schemas.microsoft.com/office/drawing/2014/main" val="4216019986"/>
                    </a:ext>
                  </a:extLst>
                </a:gridCol>
                <a:gridCol w="1318313">
                  <a:extLst>
                    <a:ext uri="{9D8B030D-6E8A-4147-A177-3AD203B41FA5}">
                      <a16:colId xmlns:a16="http://schemas.microsoft.com/office/drawing/2014/main" val="804858862"/>
                    </a:ext>
                  </a:extLst>
                </a:gridCol>
                <a:gridCol w="1033657">
                  <a:extLst>
                    <a:ext uri="{9D8B030D-6E8A-4147-A177-3AD203B41FA5}">
                      <a16:colId xmlns:a16="http://schemas.microsoft.com/office/drawing/2014/main" val="1675353208"/>
                    </a:ext>
                  </a:extLst>
                </a:gridCol>
                <a:gridCol w="1318426">
                  <a:extLst>
                    <a:ext uri="{9D8B030D-6E8A-4147-A177-3AD203B41FA5}">
                      <a16:colId xmlns:a16="http://schemas.microsoft.com/office/drawing/2014/main" val="2529913430"/>
                    </a:ext>
                  </a:extLst>
                </a:gridCol>
                <a:gridCol w="1443384">
                  <a:extLst>
                    <a:ext uri="{9D8B030D-6E8A-4147-A177-3AD203B41FA5}">
                      <a16:colId xmlns:a16="http://schemas.microsoft.com/office/drawing/2014/main" val="2545883824"/>
                    </a:ext>
                  </a:extLst>
                </a:gridCol>
                <a:gridCol w="1044777">
                  <a:extLst>
                    <a:ext uri="{9D8B030D-6E8A-4147-A177-3AD203B41FA5}">
                      <a16:colId xmlns:a16="http://schemas.microsoft.com/office/drawing/2014/main" val="2305585571"/>
                    </a:ext>
                  </a:extLst>
                </a:gridCol>
              </a:tblGrid>
              <a:tr h="435524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Tip defekta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8095" marR="128095" marT="64048" marB="640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Metoda ispitivanja bez razaranja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8095" marR="128095" marT="64048" marB="640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389651"/>
                  </a:ext>
                </a:extLst>
              </a:tr>
              <a:tr h="3181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Optička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Radiografska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Magnetna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Penetranti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Vrtložne struje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Akustična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247206"/>
                  </a:ext>
                </a:extLst>
              </a:tr>
              <a:tr h="5315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Nemetalni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uključci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troska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topitelj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endParaRPr lang="en-US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2143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B3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704194"/>
                  </a:ext>
                </a:extLst>
              </a:tr>
              <a:tr h="31810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Otvori</a:t>
                      </a:r>
                      <a:r>
                        <a:rPr 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2143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8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81959"/>
                  </a:ext>
                </a:extLst>
              </a:tr>
              <a:tr h="5315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Linija šava i vlaknaste prsline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2143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B3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094758"/>
                  </a:ext>
                </a:extLst>
              </a:tr>
              <a:tr h="5315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Grubozrna zona u blizini šava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2143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B3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473241"/>
                  </a:ext>
                </a:extLst>
              </a:tr>
              <a:tr h="31810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Prevaljanost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2143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8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513164"/>
                  </a:ext>
                </a:extLst>
              </a:tr>
              <a:tr h="31810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Ostaci peska</a:t>
                      </a:r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2143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US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675" marR="10675" marT="106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643686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ABE53BA-C8D6-D722-DCF5-7AFC3CE7F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622" y="603106"/>
            <a:ext cx="2721680" cy="108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91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07442-7F0E-A683-9345-35F58712A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D2DDD-173A-E7DA-46D7-52B25F7C6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743" y="731731"/>
            <a:ext cx="9444037" cy="954194"/>
          </a:xfrm>
        </p:spPr>
        <p:txBody>
          <a:bodyPr anchor="t">
            <a:normAutofit/>
          </a:bodyPr>
          <a:lstStyle/>
          <a:p>
            <a:pPr algn="ctr"/>
            <a:endParaRPr lang="en-US" sz="32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C0CE50-7AF3-DEFA-9C91-86E044AE5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567" y="2636250"/>
            <a:ext cx="2721680" cy="10828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27EE17-3CF5-6E32-6BC1-451240204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95" y="0"/>
            <a:ext cx="7662713" cy="683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394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5C63D8-1247-6643-27B0-0F21090D6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241AE-351F-C936-EEF9-407DC8BFE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743" y="731731"/>
            <a:ext cx="9444037" cy="954194"/>
          </a:xfrm>
        </p:spPr>
        <p:txBody>
          <a:bodyPr anchor="t">
            <a:normAutofit/>
          </a:bodyPr>
          <a:lstStyle/>
          <a:p>
            <a:pPr algn="ctr"/>
            <a:endParaRPr lang="en-US" sz="32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61F248-A7DC-789F-CB77-4FE45D162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4086" y="2197793"/>
            <a:ext cx="2721680" cy="10828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B42E43-01C1-59EE-2F60-9161EE6C9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21" y="97034"/>
            <a:ext cx="8589290" cy="666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030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66442E-7F0A-11F1-2EC7-19DA545FB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BA4D8-8AF9-EF90-2004-1A9702EEA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743" y="731731"/>
            <a:ext cx="9444037" cy="954194"/>
          </a:xfrm>
        </p:spPr>
        <p:txBody>
          <a:bodyPr anchor="t">
            <a:normAutofit/>
          </a:bodyPr>
          <a:lstStyle/>
          <a:p>
            <a:pPr algn="ctr"/>
            <a:endParaRPr lang="en-US" sz="32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8AB179-A643-BA38-2AF2-ACA7BBB70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7652" y="2634978"/>
            <a:ext cx="2721680" cy="10828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A88A03-5945-B62F-0E7B-8608E770D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311" y="114704"/>
            <a:ext cx="7660944" cy="671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83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10D801-B207-D15A-CB6C-B9AF08EBE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CFA4A-A38F-39A1-0F9E-AB3BEFBBE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743" y="731731"/>
            <a:ext cx="9444037" cy="954194"/>
          </a:xfrm>
        </p:spPr>
        <p:txBody>
          <a:bodyPr anchor="t">
            <a:normAutofit/>
          </a:bodyPr>
          <a:lstStyle/>
          <a:p>
            <a:pPr algn="ctr"/>
            <a:endParaRPr lang="en-US" sz="32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A651B9-46E6-3BE2-C485-1A58ECC59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160" y="1469370"/>
            <a:ext cx="2721680" cy="10828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342401-8DA1-1DCA-DD9F-59C312403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32" y="2881108"/>
            <a:ext cx="11533136" cy="282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382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9F5D3-0F36-B46D-4289-BE7BF204A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Питања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DC0E0-7CA3-8596-5108-3D1B13A2A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Зашто</a:t>
            </a:r>
            <a:r>
              <a:rPr lang="en-US" b="1" dirty="0"/>
              <a:t> </a:t>
            </a:r>
            <a:r>
              <a:rPr lang="en-US" b="1" dirty="0" err="1"/>
              <a:t>исти</a:t>
            </a:r>
            <a:r>
              <a:rPr lang="en-US" b="1" dirty="0"/>
              <a:t> </a:t>
            </a:r>
            <a:r>
              <a:rPr lang="en-US" b="1" dirty="0" err="1"/>
              <a:t>уређај</a:t>
            </a:r>
            <a:r>
              <a:rPr lang="en-US" b="1" dirty="0"/>
              <a:t> </a:t>
            </a:r>
            <a:r>
              <a:rPr lang="en-US" b="1" dirty="0" err="1"/>
              <a:t>за</a:t>
            </a:r>
            <a:r>
              <a:rPr lang="en-US" b="1" dirty="0"/>
              <a:t> </a:t>
            </a:r>
            <a:r>
              <a:rPr lang="en-US" b="1" dirty="0" err="1"/>
              <a:t>испитивање</a:t>
            </a:r>
            <a:r>
              <a:rPr lang="en-US" b="1" dirty="0"/>
              <a:t>, </a:t>
            </a:r>
            <a:r>
              <a:rPr lang="en-US" b="1" dirty="0" err="1"/>
              <a:t>са</a:t>
            </a:r>
            <a:r>
              <a:rPr lang="en-US" b="1" dirty="0"/>
              <a:t> </a:t>
            </a:r>
            <a:r>
              <a:rPr lang="en-US" b="1" dirty="0" err="1"/>
              <a:t>истом</a:t>
            </a:r>
            <a:r>
              <a:rPr lang="en-US" b="1" dirty="0"/>
              <a:t> </a:t>
            </a:r>
            <a:r>
              <a:rPr lang="en-US" b="1" dirty="0" err="1"/>
              <a:t>калибрацијом</a:t>
            </a:r>
            <a:r>
              <a:rPr lang="en-US" b="1" dirty="0"/>
              <a:t>, </a:t>
            </a:r>
            <a:r>
              <a:rPr lang="en-US" b="1" dirty="0" err="1"/>
              <a:t>може</a:t>
            </a:r>
            <a:r>
              <a:rPr lang="en-US" b="1" dirty="0"/>
              <a:t> </a:t>
            </a:r>
            <a:r>
              <a:rPr lang="en-US" b="1" dirty="0" err="1"/>
              <a:t>показати</a:t>
            </a:r>
            <a:r>
              <a:rPr lang="en-US" b="1" dirty="0"/>
              <a:t> </a:t>
            </a:r>
            <a:r>
              <a:rPr lang="en-US" b="1" dirty="0" err="1"/>
              <a:t>различиту</a:t>
            </a:r>
            <a:r>
              <a:rPr lang="en-US" b="1" dirty="0"/>
              <a:t> </a:t>
            </a:r>
            <a:r>
              <a:rPr lang="en-US" b="1" dirty="0" err="1"/>
              <a:t>осетљивост</a:t>
            </a:r>
            <a:r>
              <a:rPr lang="en-US" b="1" dirty="0"/>
              <a:t>?</a:t>
            </a:r>
            <a:endParaRPr lang="sr-Latn-RS" b="1" dirty="0"/>
          </a:p>
          <a:p>
            <a:r>
              <a:rPr lang="en-US" b="1" dirty="0" err="1"/>
              <a:t>Наведи</a:t>
            </a:r>
            <a:r>
              <a:rPr lang="en-US" b="1" dirty="0"/>
              <a:t> </a:t>
            </a:r>
            <a:r>
              <a:rPr lang="en-US" b="1" dirty="0" err="1"/>
              <a:t>пример</a:t>
            </a:r>
            <a:r>
              <a:rPr lang="en-US" b="1" dirty="0"/>
              <a:t> </a:t>
            </a:r>
            <a:r>
              <a:rPr lang="en-US" b="1" dirty="0" err="1"/>
              <a:t>дефекта</a:t>
            </a:r>
            <a:r>
              <a:rPr lang="en-US" b="1" dirty="0"/>
              <a:t> </a:t>
            </a:r>
            <a:r>
              <a:rPr lang="en-US" b="1" dirty="0" err="1"/>
              <a:t>који</a:t>
            </a:r>
            <a:r>
              <a:rPr lang="en-US" b="1" dirty="0"/>
              <a:t> </a:t>
            </a:r>
            <a:r>
              <a:rPr lang="en-US" b="1" dirty="0" err="1"/>
              <a:t>настаје</a:t>
            </a:r>
            <a:r>
              <a:rPr lang="en-US" b="1" dirty="0"/>
              <a:t> </a:t>
            </a:r>
            <a:r>
              <a:rPr lang="en-US" b="1" dirty="0" err="1"/>
              <a:t>при</a:t>
            </a:r>
            <a:r>
              <a:rPr lang="en-US" b="1" dirty="0"/>
              <a:t> </a:t>
            </a:r>
            <a:r>
              <a:rPr lang="en-US" b="1" dirty="0" err="1"/>
              <a:t>складиштењу</a:t>
            </a:r>
            <a:r>
              <a:rPr lang="en-US" b="1" dirty="0"/>
              <a:t> и </a:t>
            </a:r>
            <a:r>
              <a:rPr lang="en-US" b="1" dirty="0" err="1"/>
              <a:t>руковању</a:t>
            </a:r>
            <a:r>
              <a:rPr lang="en-US" b="1" dirty="0"/>
              <a:t> </a:t>
            </a:r>
            <a:r>
              <a:rPr lang="en-US" b="1" dirty="0" err="1"/>
              <a:t>материјалом</a:t>
            </a:r>
            <a:r>
              <a:rPr lang="en-US" b="1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98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471</Words>
  <Application>Microsoft Office PowerPoint</Application>
  <PresentationFormat>Widescreen</PresentationFormat>
  <Paragraphs>97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Times New Roman</vt:lpstr>
      <vt:lpstr>Office Theme</vt:lpstr>
      <vt:lpstr>Давид Каран IV-10</vt:lpstr>
      <vt:lpstr>Дефекти у металима и полупроизводима по пореклу настанка</vt:lpstr>
      <vt:lpstr>Пластична деформација метала</vt:lpstr>
      <vt:lpstr>PowerPoint Presentation</vt:lpstr>
      <vt:lpstr>Механичка обрада метала</vt:lpstr>
      <vt:lpstr>PowerPoint Presentation</vt:lpstr>
      <vt:lpstr>Карактеристична величина дефекта</vt:lpstr>
      <vt:lpstr>Поузданост система "уређај–оператер"</vt:lpstr>
      <vt:lpstr>Методе испитивања без разарања</vt:lpstr>
      <vt:lpstr>Оптичка</vt:lpstr>
      <vt:lpstr>Радиографска</vt:lpstr>
      <vt:lpstr>Магнетна</vt:lpstr>
      <vt:lpstr>Пенетранти</vt:lpstr>
      <vt:lpstr>Вртложне струје</vt:lpstr>
      <vt:lpstr>Акустична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Питања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Karan</dc:creator>
  <cp:lastModifiedBy>David Karan</cp:lastModifiedBy>
  <cp:revision>30</cp:revision>
  <dcterms:created xsi:type="dcterms:W3CDTF">2026-09-19T18:26:08Z</dcterms:created>
  <dcterms:modified xsi:type="dcterms:W3CDTF">2026-09-19T20:51:14Z</dcterms:modified>
</cp:coreProperties>
</file>